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15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2535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7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HACKATHON  /  PARALLEL FILE SEARCH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473952"/>
          </a:xfrm>
          <a:prstGeom prst="rect">
            <a:avLst/>
          </a:prstGeom>
          <a:solidFill>
            <a:srgbClr val="0E1A2C"/>
          </a:solidFill>
          <a:ln w="12700">
            <a:solidFill>
              <a:srgbClr val="0E1A2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804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3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SYSTEMS  /  HACKATHON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1371600"/>
            <a:ext cx="67665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kern="0" spc="2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FILE</a:t>
            </a:r>
            <a:endParaRPr lang="en-US"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800" b="1" kern="0" spc="2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USING</a:t>
            </a:r>
            <a:endParaRPr lang="en-US"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800" b="1" kern="0" spc="20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22376" y="3803904"/>
            <a:ext cx="676656" cy="50292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73664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multithreaded text-file searcher built in C on Ubuntu Linux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5528" y="5669301"/>
            <a:ext cx="1143000" cy="265176"/>
          </a:xfrm>
          <a:prstGeom prst="roundRect">
            <a:avLst>
              <a:gd name="adj" fmla="val 34483"/>
            </a:avLst>
          </a:prstGeom>
          <a:solidFill>
            <a:srgbClr val="102C3A"/>
          </a:solidFill>
          <a:ln w="8890">
            <a:solidFill>
              <a:srgbClr val="28C7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964" y="5687589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98548" y="5651578"/>
            <a:ext cx="1508760" cy="265176"/>
          </a:xfrm>
          <a:prstGeom prst="roundRect">
            <a:avLst>
              <a:gd name="adj" fmla="val 34483"/>
            </a:avLst>
          </a:prstGeom>
          <a:solidFill>
            <a:srgbClr val="1E2A25"/>
          </a:solidFill>
          <a:ln w="889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83132" y="566986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POSIX THREADS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10941" y="5638135"/>
            <a:ext cx="1417320" cy="265176"/>
          </a:xfrm>
          <a:prstGeom prst="roundRect">
            <a:avLst>
              <a:gd name="adj" fmla="val 34483"/>
            </a:avLst>
          </a:prstGeom>
          <a:solidFill>
            <a:srgbClr val="182A42"/>
          </a:solidFill>
          <a:ln w="889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7328" y="565157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LINUX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6062785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7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concurrently. Synchronize safely. Measure honestly.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749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74736" y="1170432"/>
            <a:ext cx="1417320" cy="356616"/>
          </a:xfrm>
          <a:prstGeom prst="roundRect">
            <a:avLst>
              <a:gd name="adj" fmla="val 3076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261872"/>
            <a:ext cx="164592" cy="182880"/>
          </a:xfrm>
          <a:prstGeom prst="rect">
            <a:avLst/>
          </a:prstGeom>
          <a:solidFill>
            <a:srgbClr val="9BAEC4"/>
          </a:solidFill>
          <a:ln w="6350">
            <a:solidFill>
              <a:srgbClr val="9BAE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2" y="1243584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file_1.txt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74736" y="1691640"/>
            <a:ext cx="1417320" cy="356616"/>
          </a:xfrm>
          <a:prstGeom prst="roundRect">
            <a:avLst>
              <a:gd name="adj" fmla="val 30769"/>
            </a:avLst>
          </a:prstGeom>
          <a:solidFill>
            <a:srgbClr val="183243"/>
          </a:solidFill>
          <a:ln w="11430">
            <a:solidFill>
              <a:srgbClr val="28C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783080"/>
            <a:ext cx="164592" cy="182880"/>
          </a:xfrm>
          <a:prstGeom prst="rect">
            <a:avLst/>
          </a:prstGeom>
          <a:solidFill>
            <a:srgbClr val="28C7D9"/>
          </a:solidFill>
          <a:ln w="6350">
            <a:solidFill>
              <a:srgbClr val="28C7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77072" y="1764792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file_2.txt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74736" y="2212848"/>
            <a:ext cx="1417320" cy="356616"/>
          </a:xfrm>
          <a:prstGeom prst="roundRect">
            <a:avLst>
              <a:gd name="adj" fmla="val 3076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304288"/>
            <a:ext cx="164592" cy="182880"/>
          </a:xfrm>
          <a:prstGeom prst="rect">
            <a:avLst/>
          </a:prstGeom>
          <a:solidFill>
            <a:srgbClr val="9BAEC4"/>
          </a:solidFill>
          <a:ln w="6350">
            <a:solidFill>
              <a:srgbClr val="9BAE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77072" y="2286000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file_3.txt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74736" y="2734056"/>
            <a:ext cx="1417320" cy="356616"/>
          </a:xfrm>
          <a:prstGeom prst="roundRect">
            <a:avLst>
              <a:gd name="adj" fmla="val 3076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825496"/>
            <a:ext cx="164592" cy="182880"/>
          </a:xfrm>
          <a:prstGeom prst="rect">
            <a:avLst/>
          </a:prstGeom>
          <a:solidFill>
            <a:srgbClr val="9BAEC4"/>
          </a:solidFill>
          <a:ln w="6350">
            <a:solidFill>
              <a:srgbClr val="9BAE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7072" y="2807208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file_4.txt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92640" y="2130552"/>
            <a:ext cx="548640" cy="0"/>
          </a:xfrm>
          <a:prstGeom prst="line">
            <a:avLst/>
          </a:prstGeom>
          <a:noFill/>
          <a:ln w="25400">
            <a:solidFill>
              <a:srgbClr val="28C7D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0351008" y="7498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2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THREADS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87584" y="1225296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183243"/>
          </a:solidFill>
          <a:ln w="11430">
            <a:solidFill>
              <a:srgbClr val="28C7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42448" y="129844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826496" y="13167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387584" y="2002536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42448" y="207568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826496" y="20939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387584" y="2779776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42448" y="28529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826496" y="28712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87584" y="3557016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36301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826496" y="36484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991088" y="4133088"/>
            <a:ext cx="0" cy="457200"/>
          </a:xfrm>
          <a:prstGeom prst="line">
            <a:avLst/>
          </a:prstGeom>
          <a:noFill/>
          <a:ln w="22860">
            <a:solidFill>
              <a:srgbClr val="A3E63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66760" y="4727448"/>
            <a:ext cx="3035808" cy="758952"/>
          </a:xfrm>
          <a:prstGeom prst="roundRect">
            <a:avLst>
              <a:gd name="adj" fmla="val 14458"/>
            </a:avLst>
          </a:prstGeom>
          <a:solidFill>
            <a:srgbClr val="172A30"/>
          </a:solidFill>
          <a:ln w="11430">
            <a:solidFill>
              <a:srgbClr val="36554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488289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+ TIMING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549640" y="518464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• line • matching text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9D3EDA-C3D4-D0D0-F093-5D65470BFDFA}"/>
              </a:ext>
            </a:extLst>
          </p:cNvPr>
          <p:cNvSpPr txBox="1"/>
          <p:nvPr/>
        </p:nvSpPr>
        <p:spPr>
          <a:xfrm>
            <a:off x="722376" y="4392074"/>
            <a:ext cx="6514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2"/>
                </a:solidFill>
              </a:rPr>
              <a:t>Team Member 1: L. Sainath                         </a:t>
            </a:r>
            <a:r>
              <a:rPr lang="en-IN">
                <a:solidFill>
                  <a:schemeClr val="bg2"/>
                </a:solidFill>
              </a:rPr>
              <a:t>-    2520090148</a:t>
            </a:r>
            <a:endParaRPr lang="en-IN" dirty="0">
              <a:solidFill>
                <a:schemeClr val="bg2"/>
              </a:solidFill>
            </a:endParaRPr>
          </a:p>
          <a:p>
            <a:pPr algn="just"/>
            <a:r>
              <a:rPr lang="en-IN" dirty="0">
                <a:solidFill>
                  <a:schemeClr val="bg2"/>
                </a:solidFill>
              </a:rPr>
              <a:t>Team Member 2: T. Shanmukha Sagar   -    2520090050</a:t>
            </a:r>
          </a:p>
          <a:p>
            <a:pPr algn="just"/>
            <a:r>
              <a:rPr lang="en-IN" dirty="0">
                <a:solidFill>
                  <a:schemeClr val="bg2"/>
                </a:solidFill>
              </a:rPr>
              <a:t>Team Member 3: R. Nishanth                     -    2520090141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parallel file search?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Searching many files one by one can become slow as the dataset grows.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5285232" cy="3611880"/>
          </a:xfrm>
          <a:prstGeom prst="roundRect">
            <a:avLst>
              <a:gd name="adj" fmla="val 3038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user needs to find a keyword across a directory of text files.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6112" y="334670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3273552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search opens and scans each file in order.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931920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385876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folders mean more file reads and more waiting.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4517136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0704" y="444398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search gives limited insight into execution performance.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9632" y="1719072"/>
            <a:ext cx="5376672" cy="3611880"/>
          </a:xfrm>
          <a:prstGeom prst="roundRect">
            <a:avLst>
              <a:gd name="adj" fmla="val 3038"/>
            </a:avLst>
          </a:prstGeom>
          <a:solidFill>
            <a:srgbClr val="112B35"/>
          </a:solidFill>
          <a:ln w="11430">
            <a:solidFill>
              <a:srgbClr val="2451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4231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independent file searches across worker threads.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10528" y="3346704"/>
            <a:ext cx="68580" cy="68580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273552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matching lines and show filename + line number.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10528" y="3931920"/>
            <a:ext cx="68580" cy="68580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85876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shared task allocation thread-safe.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4517136"/>
            <a:ext cx="68580" cy="68580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443984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sequential and parallel elapsed time.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67842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question: Can concurrent workers search the same dataset correctly—and when does it help?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prototype delivers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compact, demonstrable implementation with observable OS concepts.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0299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8C7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700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127248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Case-insensitive keyword matching inside regular text files.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" y="3840480"/>
            <a:ext cx="502920" cy="41148"/>
          </a:xfrm>
          <a:prstGeom prst="rect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18288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9896" y="20299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A3E6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26700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PARALLELIZE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39896" y="3127248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number of POSIX worker threads.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39896" y="3840480"/>
            <a:ext cx="502920" cy="411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288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0256" y="20299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620256" y="26700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0256" y="3127248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file paths, line numbers, and matching text.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0256" y="3840480"/>
            <a:ext cx="502920" cy="411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9448" y="18288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0616" y="20299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00616" y="267004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3127248"/>
            <a:ext cx="2176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time, parallel time, counts, and speedup ratio.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0616" y="3840480"/>
            <a:ext cx="50292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572000"/>
            <a:ext cx="10917936" cy="1005840"/>
          </a:xfrm>
          <a:prstGeom prst="roundRect">
            <a:avLst>
              <a:gd name="adj" fmla="val 10909"/>
            </a:avLst>
          </a:prstGeom>
          <a:solidFill>
            <a:srgbClr val="102031"/>
          </a:solidFill>
          <a:ln w="11430">
            <a:solidFill>
              <a:srgbClr val="263A5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" y="47731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SCOPE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87168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directory level • regular files • line-by-line scan • case-insensitive substring match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51389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folder traversal and very long-line handling are future improvements.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SYSTEM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folder to a combined result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thread prepares work; worker threads search separate 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84832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286000"/>
            <a:ext cx="109728" cy="109728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6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670048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31136" y="2889504"/>
            <a:ext cx="237744" cy="0"/>
          </a:xfrm>
          <a:prstGeom prst="line">
            <a:avLst/>
          </a:prstGeom>
          <a:noFill/>
          <a:ln w="20320">
            <a:solidFill>
              <a:srgbClr val="71859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42032" y="2084832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228600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9504" y="222199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60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SCANNER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670048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opendir()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readdir()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files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889504"/>
            <a:ext cx="246888" cy="0"/>
          </a:xfrm>
          <a:prstGeom prst="line">
            <a:avLst/>
          </a:prstGeom>
          <a:noFill/>
          <a:ln w="20320">
            <a:solidFill>
              <a:srgbClr val="71859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084832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286000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19472" y="2221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60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INDEX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2670048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next_file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mutex-protected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claim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8504" y="2889504"/>
            <a:ext cx="265176" cy="0"/>
          </a:xfrm>
          <a:prstGeom prst="line">
            <a:avLst/>
          </a:prstGeom>
          <a:noFill/>
          <a:ln w="20320">
            <a:solidFill>
              <a:srgbClr val="7185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56832" y="2084832"/>
            <a:ext cx="2103120" cy="1600200"/>
          </a:xfrm>
          <a:prstGeom prst="roundRect">
            <a:avLst>
              <a:gd name="adj" fmla="val 685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2286000"/>
            <a:ext cx="109728" cy="109728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04304" y="22219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6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POOL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267004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1  •  Thread 2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3  •  ... Thread N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→ scan → close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96528" y="2889504"/>
            <a:ext cx="274320" cy="0"/>
          </a:xfrm>
          <a:prstGeom prst="line">
            <a:avLst/>
          </a:prstGeom>
          <a:noFill/>
          <a:ln w="20320">
            <a:solidFill>
              <a:srgbClr val="71859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084832"/>
            <a:ext cx="2404872" cy="1600200"/>
          </a:xfrm>
          <a:prstGeom prst="roundRect">
            <a:avLst>
              <a:gd name="adj" fmla="val 685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08592" y="22860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91472" y="222199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6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SUMMARY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670048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files / lines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vs parallel time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ratio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7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SYNCHRONIZATION POINTS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4681728"/>
            <a:ext cx="5230368" cy="914400"/>
          </a:xfrm>
          <a:prstGeom prst="roundRect">
            <a:avLst>
              <a:gd name="adj" fmla="val 12000"/>
            </a:avLst>
          </a:prstGeom>
          <a:solidFill>
            <a:srgbClr val="102031"/>
          </a:solidFill>
          <a:ln w="11430">
            <a:solidFill>
              <a:srgbClr val="263A5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488289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mutex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267712" y="4864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worker claims each file index at a time.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9632" y="4681728"/>
            <a:ext cx="5321808" cy="914400"/>
          </a:xfrm>
          <a:prstGeom prst="roundRect">
            <a:avLst>
              <a:gd name="adj" fmla="val 12000"/>
            </a:avLst>
          </a:prstGeom>
          <a:solidFill>
            <a:srgbClr val="102031"/>
          </a:solidFill>
          <a:ln w="11430">
            <a:solidFill>
              <a:srgbClr val="263A5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8828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mutex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982712" y="486460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console lines from interleaving unpredictably.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EXECUTION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worker threads divide the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worker repeatedly claims the next file until the task list is exhausted.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7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LIST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83243"/>
          </a:solidFill>
          <a:ln w="11430">
            <a:solidFill>
              <a:srgbClr val="28C7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23113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file_1.txt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4872" y="214884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78024" y="223113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file_2.txt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96512" y="214884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23113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file_3.txt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274320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254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file_4.txt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04872" y="274320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78024" y="28254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file_5.txt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96512" y="2743200"/>
            <a:ext cx="1417320" cy="393192"/>
          </a:xfrm>
          <a:prstGeom prst="roundRect">
            <a:avLst>
              <a:gd name="adj" fmla="val 2790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69664" y="28254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file_6.txt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25312" y="2779776"/>
            <a:ext cx="566928" cy="0"/>
          </a:xfrm>
          <a:prstGeom prst="line">
            <a:avLst/>
          </a:prstGeom>
          <a:noFill/>
          <a:ln w="25400">
            <a:solidFill>
              <a:srgbClr val="28C7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65392" y="2066544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1B2A28"/>
          </a:solidFill>
          <a:ln w="11430">
            <a:solidFill>
              <a:srgbClr val="3F60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22951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9984" y="2660904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index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73568" y="2779776"/>
            <a:ext cx="475488" cy="0"/>
          </a:xfrm>
          <a:prstGeom prst="line">
            <a:avLst/>
          </a:prstGeom>
          <a:noFill/>
          <a:ln w="25400">
            <a:solidFill>
              <a:srgbClr val="28C7D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58784" y="1746504"/>
            <a:ext cx="256032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1965960"/>
            <a:ext cx="128016" cy="128016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79408" y="18379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1856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file_1 → scan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58784" y="2587752"/>
            <a:ext cx="256032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2807208"/>
            <a:ext cx="128016" cy="128016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79408" y="267919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829800" y="26974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file_2 → scan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58784" y="3429000"/>
            <a:ext cx="2560320" cy="621792"/>
          </a:xfrm>
          <a:prstGeom prst="roundRect">
            <a:avLst>
              <a:gd name="adj" fmla="val 17647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41664" y="3648456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9408" y="35204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35387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file_N → scan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8646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THREAD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4690872"/>
            <a:ext cx="2743200" cy="694944"/>
          </a:xfrm>
          <a:prstGeom prst="roundRect">
            <a:avLst>
              <a:gd name="adj" fmla="val 15789"/>
            </a:avLst>
          </a:prstGeom>
          <a:solidFill>
            <a:srgbClr val="28261D"/>
          </a:solidFill>
          <a:ln w="11430">
            <a:solidFill>
              <a:srgbClr val="5F4E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40864" y="482803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pthread_join()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38344" y="5047488"/>
            <a:ext cx="585216" cy="0"/>
          </a:xfrm>
          <a:prstGeom prst="line">
            <a:avLst/>
          </a:prstGeom>
          <a:noFill/>
          <a:ln w="2159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715000" y="4690872"/>
            <a:ext cx="2761488" cy="694944"/>
          </a:xfrm>
          <a:prstGeom prst="roundRect">
            <a:avLst>
              <a:gd name="adj" fmla="val 1578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16168" y="4818888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worker counters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622792" y="5047488"/>
            <a:ext cx="585216" cy="0"/>
          </a:xfrm>
          <a:prstGeom prst="line">
            <a:avLst/>
          </a:prstGeom>
          <a:noFill/>
          <a:ln w="2159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299448" y="4690872"/>
            <a:ext cx="2194560" cy="694944"/>
          </a:xfrm>
          <a:prstGeom prst="roundRect">
            <a:avLst>
              <a:gd name="adj" fmla="val 15789"/>
            </a:avLst>
          </a:prstGeom>
          <a:solidFill>
            <a:srgbClr val="172A30"/>
          </a:solidFill>
          <a:ln w="11430">
            <a:solidFill>
              <a:srgbClr val="36554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36608" y="48188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" y="570585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task indexes prevent two workers from intentionally claiming the same file.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IMPLEMENTATION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functions, one clear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is built around collection, search, worker, timing, and reporting functions.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5486400" cy="3529584"/>
          </a:xfrm>
          <a:prstGeom prst="roundRect">
            <a:avLst>
              <a:gd name="adj" fmla="val 3109"/>
            </a:avLst>
          </a:prstGeom>
          <a:solidFill>
            <a:srgbClr val="080F1B"/>
          </a:solidFill>
          <a:ln w="11430">
            <a:solidFill>
              <a:srgbClr val="2A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83080"/>
            <a:ext cx="5449824" cy="274320"/>
          </a:xfrm>
          <a:prstGeom prst="roundRect">
            <a:avLst>
              <a:gd name="adj" fmla="val 23333"/>
            </a:avLst>
          </a:prstGeom>
          <a:solidFill>
            <a:srgbClr val="152338"/>
          </a:solidFill>
          <a:ln w="12700">
            <a:solidFill>
              <a:srgbClr val="15233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874520"/>
            <a:ext cx="68580" cy="685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874520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874520"/>
            <a:ext cx="68580" cy="685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1579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// Claim one file safely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688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pthread_mutex_lock(&amp;task_mutex);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7797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task = next_file++;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0906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pthread_mutex_unlock(&amp;task_mutex);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4015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5387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// Search assigned file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84962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while (fgets(line, sizeof line, fp)) {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1605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  if (strcasestr(line, keyword))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4714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    print_match(file, line_number, line);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78231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F7FB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7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FUNCTIONS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48840"/>
            <a:ext cx="4956048" cy="493776"/>
          </a:xfrm>
          <a:prstGeom prst="roundRect">
            <a:avLst>
              <a:gd name="adj" fmla="val 2222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65976" y="22402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collect_files()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22199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the file list from a directory.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743200"/>
            <a:ext cx="4956048" cy="493776"/>
          </a:xfrm>
          <a:prstGeom prst="roundRect">
            <a:avLst>
              <a:gd name="adj" fmla="val 2222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65976" y="28346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search_file()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81635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a file line by line and counts matches.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337560"/>
            <a:ext cx="4956048" cy="493776"/>
          </a:xfrm>
          <a:prstGeom prst="roundRect">
            <a:avLst>
              <a:gd name="adj" fmla="val 2222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65976" y="342900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3E635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worker()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41071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jobs and updates thread-local statistics.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3931920"/>
            <a:ext cx="4956048" cy="493776"/>
          </a:xfrm>
          <a:prstGeom prst="roundRect">
            <a:avLst>
              <a:gd name="adj" fmla="val 2222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65976" y="40233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parallel_search()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00507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threads, joins them, and combines counters.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4526280"/>
            <a:ext cx="4956048" cy="493776"/>
          </a:xfrm>
          <a:prstGeom prst="roundRect">
            <a:avLst>
              <a:gd name="adj" fmla="val 2222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65976" y="46177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sequential_search()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59943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baseline for comparison.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56692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design choice: each thread accumulates local counts; the main thread combines them only after joins.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TECHNOLOGY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the Ubuntu terminal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framework is required for the core search engine.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983480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18928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implementation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1416" y="1920240"/>
            <a:ext cx="950976" cy="265176"/>
          </a:xfrm>
          <a:prstGeom prst="roundRect">
            <a:avLst>
              <a:gd name="adj" fmla="val 34483"/>
            </a:avLst>
          </a:prstGeom>
          <a:solidFill>
            <a:srgbClr val="172337"/>
          </a:solidFill>
          <a:ln w="8890">
            <a:solidFill>
              <a:srgbClr val="28C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2938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478024"/>
            <a:ext cx="4983480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5694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E635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pthreads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25877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/ join worker threads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71416" y="2615184"/>
            <a:ext cx="950976" cy="265176"/>
          </a:xfrm>
          <a:prstGeom prst="roundRect">
            <a:avLst>
              <a:gd name="adj" fmla="val 34483"/>
            </a:avLst>
          </a:prstGeom>
          <a:solidFill>
            <a:srgbClr val="172337"/>
          </a:solidFill>
          <a:ln w="8890">
            <a:solidFill>
              <a:srgbClr val="A3E6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6243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172968"/>
            <a:ext cx="4983480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264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file APIs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95728" y="32826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 + file operations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71416" y="3310128"/>
            <a:ext cx="950976" cy="265176"/>
          </a:xfrm>
          <a:prstGeom prst="roundRect">
            <a:avLst>
              <a:gd name="adj" fmla="val 34483"/>
            </a:avLst>
          </a:prstGeom>
          <a:solidFill>
            <a:srgbClr val="172337"/>
          </a:solidFill>
          <a:ln w="889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331927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I/O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867912"/>
            <a:ext cx="4983480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3959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95728" y="39776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and link the program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71416" y="4005072"/>
            <a:ext cx="950976" cy="265176"/>
          </a:xfrm>
          <a:prstGeom prst="roundRect">
            <a:avLst>
              <a:gd name="adj" fmla="val 34483"/>
            </a:avLst>
          </a:prstGeom>
          <a:solidFill>
            <a:srgbClr val="172337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401421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TOOLCHAIN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4562856"/>
            <a:ext cx="4983480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654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clock_gettime()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395728" y="46725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Monotonic elapsed-time timing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71416" y="4700016"/>
            <a:ext cx="950976" cy="265176"/>
          </a:xfrm>
          <a:prstGeom prst="roundRect">
            <a:avLst>
              <a:gd name="adj" fmla="val 34483"/>
            </a:avLst>
          </a:prstGeom>
          <a:solidFill>
            <a:srgbClr val="172337"/>
          </a:solidFill>
          <a:ln w="8890">
            <a:solidFill>
              <a:srgbClr val="28C7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47091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44768" y="1883664"/>
            <a:ext cx="5303520" cy="1892808"/>
          </a:xfrm>
          <a:prstGeom prst="roundRect">
            <a:avLst>
              <a:gd name="adj" fmla="val 5797"/>
            </a:avLst>
          </a:prstGeom>
          <a:solidFill>
            <a:srgbClr val="080F1B"/>
          </a:solidFill>
          <a:ln w="11430">
            <a:solidFill>
              <a:srgbClr val="2A3D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1901952"/>
            <a:ext cx="5266944" cy="274320"/>
          </a:xfrm>
          <a:prstGeom prst="roundRect">
            <a:avLst>
              <a:gd name="adj" fmla="val 23333"/>
            </a:avLst>
          </a:prstGeom>
          <a:solidFill>
            <a:srgbClr val="152338"/>
          </a:solidFill>
          <a:ln w="12700">
            <a:solidFill>
              <a:srgbClr val="15233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993392"/>
            <a:ext cx="68580" cy="685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8232" y="1993392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56248" y="1993392"/>
            <a:ext cx="68580" cy="685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27648" y="2276856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$ gcc parallel_search.c -o parallel_search \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27648" y="25877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C7D9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    -pthread -O2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327648" y="289864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$ ./parallel_search test_data error 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27648" y="3209544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327648" y="3300984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BAEC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directory   keyword   threads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087368"/>
            <a:ext cx="5303520" cy="1307592"/>
          </a:xfrm>
          <a:prstGeom prst="roundRect">
            <a:avLst>
              <a:gd name="adj" fmla="val 8392"/>
            </a:avLst>
          </a:prstGeom>
          <a:solidFill>
            <a:srgbClr val="102031"/>
          </a:solidFill>
          <a:ln w="11430">
            <a:solidFill>
              <a:srgbClr val="263A5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82512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INCLUDES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46634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paths • line numbers • total counts • elapsed time • speedup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181344" y="5715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quote a multiword phrase, e.g. "memory error".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CONCURRENCY SAFETY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synchronization matters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shared state; keep independent file reads outside the task lock.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1856232"/>
            <a:ext cx="3218688" cy="3236976"/>
          </a:xfrm>
          <a:prstGeom prst="roundRect">
            <a:avLst>
              <a:gd name="adj" fmla="val 340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130552"/>
            <a:ext cx="182880" cy="18288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16152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80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MUTEX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Protects next_file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3136392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worker claims the next index at a time. The lock is released before file I/O.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3544" y="4197096"/>
            <a:ext cx="2651760" cy="0"/>
          </a:xfrm>
          <a:prstGeom prst="line">
            <a:avLst/>
          </a:prstGeom>
          <a:noFill/>
          <a:ln w="12700">
            <a:solidFill>
              <a:srgbClr val="2B4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438912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7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" y="466344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duplicate task claims.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98848" y="1856232"/>
            <a:ext cx="3218688" cy="3236976"/>
          </a:xfrm>
          <a:prstGeom prst="roundRect">
            <a:avLst>
              <a:gd name="adj" fmla="val 340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30552"/>
            <a:ext cx="182880" cy="182880"/>
          </a:xfrm>
          <a:prstGeom prst="ellipse">
            <a:avLst/>
          </a:prstGeom>
          <a:solidFill>
            <a:srgbClr val="28C7D9"/>
          </a:solidFill>
          <a:ln w="12700">
            <a:solidFill>
              <a:srgbClr val="28C7D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8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MUTEX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Protects console output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136392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worker locks only while printing a matching line, so output messages do not overlap.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4197096"/>
            <a:ext cx="2651760" cy="0"/>
          </a:xfrm>
          <a:prstGeom prst="line">
            <a:avLst/>
          </a:prstGeom>
          <a:noFill/>
          <a:ln w="12700">
            <a:solidFill>
              <a:srgbClr val="2B40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438912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7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66344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result lines readable.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56232"/>
            <a:ext cx="3218688" cy="3236976"/>
          </a:xfrm>
          <a:prstGeom prst="roundRect">
            <a:avLst>
              <a:gd name="adj" fmla="val 3409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2130552"/>
            <a:ext cx="182880" cy="1828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0" y="20665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80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JOIN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77072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Waits for completion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77072" y="3136392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thread joins each worker before combining that worker’s final counters.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77072" y="4197096"/>
            <a:ext cx="2651760" cy="0"/>
          </a:xfrm>
          <a:prstGeom prst="line">
            <a:avLst/>
          </a:prstGeom>
          <a:noFill/>
          <a:ln w="12700">
            <a:solidFill>
              <a:srgbClr val="2B40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77072" y="438912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7185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466344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reading incomplete totals.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5623560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counters are local to each worker; their totals are combined after pthread_join().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TESTING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correctness before claiming speed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file set and keyword for sequential and parallel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10863072" cy="484632"/>
          </a:xfrm>
          <a:prstGeom prst="roundRect">
            <a:avLst>
              <a:gd name="adj" fmla="val 22642"/>
            </a:avLst>
          </a:prstGeom>
          <a:solidFill>
            <a:srgbClr val="1A2B41"/>
          </a:solidFill>
          <a:ln w="11430">
            <a:solidFill>
              <a:srgbClr val="3045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74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/ ACTION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CHECK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350008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101E30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450592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found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45059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contain “error”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43230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file + line are reported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935224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0E1A2A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035808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Case-insensitive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303580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“ERROR” or “error”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01752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should agree for mixed case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101E30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621024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44952" y="3621024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 missing keyword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0273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matching lines and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105656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0E1A2A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4206240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counts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044952" y="4206240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with 1, 2, 4, 8 workers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1879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result totals as sequential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690872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101E30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4791456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directory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44952" y="4791456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 has no regular files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4773168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“no files” message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5276088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0E1A2A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5376672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input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044952" y="5376672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path or non-positive threads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35838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Validation/error message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protocol: repeat the same run, record CPU / file count / total bytes, and avoid comparing different datasets.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report from a real run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can be checked with a known fixture; timing must be measured on your Ubuntu machine.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1764792"/>
            <a:ext cx="3730752" cy="3630168"/>
          </a:xfrm>
          <a:prstGeom prst="roundRect">
            <a:avLst>
              <a:gd name="adj" fmla="val 3023"/>
            </a:avLst>
          </a:prstGeom>
          <a:solidFill>
            <a:srgbClr val="102B34"/>
          </a:solidFill>
          <a:ln w="11430">
            <a:solidFill>
              <a:srgbClr val="2451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FIXTURE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963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keyword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24505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3E635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error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matches in the 5 sample files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694176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9227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files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4805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8C7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64792"/>
            <a:ext cx="6830568" cy="1965960"/>
          </a:xfrm>
          <a:prstGeom prst="roundRect">
            <a:avLst>
              <a:gd name="adj" fmla="val 5581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56048" y="20299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COMPARISON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56048" y="25237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time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2523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[measured by program]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29260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time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2926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[measured by program]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986784"/>
            <a:ext cx="6830568" cy="1408176"/>
          </a:xfrm>
          <a:prstGeom prst="roundRect">
            <a:avLst>
              <a:gd name="adj" fmla="val 7792"/>
            </a:avLst>
          </a:prstGeom>
          <a:solidFill>
            <a:srgbClr val="172A30"/>
          </a:solidFill>
          <a:ln w="11430">
            <a:solidFill>
              <a:srgbClr val="3655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56048" y="4242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0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FORMULA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56048" y="4645152"/>
            <a:ext cx="6053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= sequential elapsed time ÷ parallel elapsed time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5705856"/>
            <a:ext cx="10744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more threads do not guarantee faster results—disk I/O, caching, thread overhead, and dataset size matter.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IMPACT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this approach can help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a small, explainable pattern for parallelizing independent I/O tasks.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1792224"/>
            <a:ext cx="5074920" cy="3493008"/>
          </a:xfrm>
          <a:prstGeom prst="roundRect">
            <a:avLst>
              <a:gd name="adj" fmla="val 3141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9264" y="2624328"/>
            <a:ext cx="91440" cy="9144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5511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scanning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551176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error codes in application or system logs.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9264" y="3191256"/>
            <a:ext cx="91440" cy="9144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118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 search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118104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symbols or TODO markers in text source files.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9264" y="3758184"/>
            <a:ext cx="91440" cy="9144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685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repositories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685032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many text-based reports and notes.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9264" y="4325112"/>
            <a:ext cx="91440" cy="9144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4251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triage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25196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surface lines containing known warning terms.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62472" y="1792224"/>
            <a:ext cx="5458968" cy="3493008"/>
          </a:xfrm>
          <a:prstGeom prst="roundRect">
            <a:avLst>
              <a:gd name="adj" fmla="val 3141"/>
            </a:avLst>
          </a:prstGeom>
          <a:solidFill>
            <a:srgbClr val="211F1A"/>
          </a:solidFill>
          <a:ln w="11430">
            <a:solidFill>
              <a:srgbClr val="5445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6792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→ NEXT STEPS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4224" y="2551176"/>
            <a:ext cx="758952" cy="265176"/>
          </a:xfrm>
          <a:prstGeom prst="roundRect">
            <a:avLst>
              <a:gd name="adj" fmla="val 34483"/>
            </a:avLst>
          </a:prstGeom>
          <a:solidFill>
            <a:srgbClr val="30271A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2560320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2542032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only the specified directory level.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4224" y="3118104"/>
            <a:ext cx="758952" cy="265176"/>
          </a:xfrm>
          <a:prstGeom prst="roundRect">
            <a:avLst>
              <a:gd name="adj" fmla="val 34483"/>
            </a:avLst>
          </a:prstGeom>
          <a:solidFill>
            <a:srgbClr val="30271A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9088" y="3127248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310896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Fixed-size line buffer can split very long lines.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64224" y="3685032"/>
            <a:ext cx="758952" cy="265176"/>
          </a:xfrm>
          <a:prstGeom prst="roundRect">
            <a:avLst>
              <a:gd name="adj" fmla="val 34483"/>
            </a:avLst>
          </a:prstGeom>
          <a:solidFill>
            <a:srgbClr val="1E2A25"/>
          </a:solidFill>
          <a:ln w="8890">
            <a:solidFill>
              <a:srgbClr val="A3E6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19088" y="3694176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296912" y="367588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recursive traversal, extension filters, and file-size checks.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64224" y="4251960"/>
            <a:ext cx="758952" cy="265176"/>
          </a:xfrm>
          <a:prstGeom prst="roundRect">
            <a:avLst>
              <a:gd name="adj" fmla="val 34483"/>
            </a:avLst>
          </a:prstGeom>
          <a:solidFill>
            <a:srgbClr val="1E2A25"/>
          </a:solidFill>
          <a:ln w="8890">
            <a:solidFill>
              <a:srgbClr val="A3E63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4261104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96912" y="424281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benchmark results; handle cancellation and errors robustly.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6509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claim: faster search is possible for suitable workloads; the benchmark determines whether it happens for this dataset.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2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LIVE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90-second demonstration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430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repeatable test, then explain the concurrency controls.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1773936"/>
            <a:ext cx="6729984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56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562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test_data with five small .txt files.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2487168"/>
            <a:ext cx="6729984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56946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44752" y="25694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gcc parallel_search.c -o parallel_search -pthread -O2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" y="3200400"/>
            <a:ext cx="6729984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2826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2826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42032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./parallel_search test_data error 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" y="3913632"/>
            <a:ext cx="6729984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399592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995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42032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match the sequential baseline.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" y="4626864"/>
            <a:ext cx="6729984" cy="557784"/>
          </a:xfrm>
          <a:prstGeom prst="roundRect">
            <a:avLst>
              <a:gd name="adj" fmla="val 19672"/>
            </a:avLst>
          </a:prstGeom>
          <a:solidFill>
            <a:srgbClr val="132238"/>
          </a:solidFill>
          <a:ln w="11430">
            <a:solidFill>
              <a:srgbClr val="2B4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7824" y="470916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709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42032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mutex • output mutex • pthread_join • speedup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9832" y="1874520"/>
            <a:ext cx="3639312" cy="3474720"/>
          </a:xfrm>
          <a:prstGeom prst="roundRect">
            <a:avLst>
              <a:gd name="adj" fmla="val 3158"/>
            </a:avLst>
          </a:prstGeom>
          <a:solidFill>
            <a:srgbClr val="112B35"/>
          </a:solidFill>
          <a:ln w="11430">
            <a:solidFill>
              <a:srgbClr val="2451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9872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200" dirty="0">
                <a:solidFill>
                  <a:srgbClr val="2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670048"/>
            <a:ext cx="2862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Threads</a:t>
            </a:r>
            <a:endParaRPr lang="en-US" sz="2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divide work.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379476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Mutexes protect shared state.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make results ready.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BA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guide the speed claim.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5650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110" dirty="0">
                <a:solidFill>
                  <a:srgbClr val="A3E6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QUESTIONS?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9681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5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1428</Words>
  <Application>Microsoft Office PowerPoint</Application>
  <PresentationFormat>Widescreen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Ubuntu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File Search Using Threads</dc:title>
  <dc:subject>Operating Systems Hackathon Project</dc:subject>
  <dc:creator>OpenAI</dc:creator>
  <cp:lastModifiedBy>Shanmukha Sagar Thatha</cp:lastModifiedBy>
  <cp:revision>2</cp:revision>
  <dcterms:created xsi:type="dcterms:W3CDTF">2026-10-17T05:04:39Z</dcterms:created>
  <dcterms:modified xsi:type="dcterms:W3CDTF">2026-10-17T05:13:07Z</dcterms:modified>
</cp:coreProperties>
</file>